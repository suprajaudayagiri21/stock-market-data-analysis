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74" r:id="rId6"/>
    <p:sldId id="279" r:id="rId7"/>
    <p:sldId id="276" r:id="rId8"/>
    <p:sldId id="280" r:id="rId9"/>
    <p:sldId id="278" r:id="rId10"/>
    <p:sldId id="271" r:id="rId11"/>
    <p:sldId id="281" r:id="rId12"/>
    <p:sldId id="283" r:id="rId13"/>
    <p:sldId id="285" r:id="rId14"/>
    <p:sldId id="284" r:id="rId15"/>
    <p:sldId id="268" r:id="rId16"/>
    <p:sldId id="286" r:id="rId1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 autoAdjust="0"/>
    <p:restoredTop sz="94660"/>
  </p:normalViewPr>
  <p:slideViewPr>
    <p:cSldViewPr>
      <p:cViewPr>
        <p:scale>
          <a:sx n="66" d="100"/>
          <a:sy n="66" d="100"/>
        </p:scale>
        <p:origin x="2040" y="12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pPr/>
              <a:t>25-10-2026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813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10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E0C1-6277-CAD3-8A7C-7F0F37C61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3776A0-3BEE-1FDC-EADA-6B6FA1E1A0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753676-942B-2284-A56F-CCE051D8D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8B2BB-B290-5A6F-7542-202146F1B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E471F2-2083-493A-8C9E-53209FFA1EC8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576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10/25/2026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8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jpeg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jpeg" /><Relationship Id="rId5" Type="http://schemas.openxmlformats.org/officeDocument/2006/relationships/image" Target="../media/image8.png" /><Relationship Id="rId4" Type="http://schemas.openxmlformats.org/officeDocument/2006/relationships/image" Target="../media/image2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jpe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png" /><Relationship Id="rId5" Type="http://schemas.openxmlformats.org/officeDocument/2006/relationships/image" Target="../media/image10.png" /><Relationship Id="rId4" Type="http://schemas.openxmlformats.org/officeDocument/2006/relationships/image" Target="../media/image8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7" Type="http://schemas.openxmlformats.org/officeDocument/2006/relationships/image" Target="../media/image6.jpe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12.png" /><Relationship Id="rId5" Type="http://schemas.openxmlformats.org/officeDocument/2006/relationships/image" Target="../media/image11.png" /><Relationship Id="rId4" Type="http://schemas.openxmlformats.org/officeDocument/2006/relationships/image" Target="../media/image8.pn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6.jpeg" /><Relationship Id="rId4" Type="http://schemas.openxmlformats.org/officeDocument/2006/relationships/image" Target="../media/image8.png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63040" y="1051560"/>
            <a:ext cx="731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500" b="1">
                <a:solidFill>
                  <a:srgbClr val="233464"/>
                </a:solidFill>
                <a:latin typeface="Aptos"/>
              </a:defRPr>
            </a:pPr>
            <a:r>
              <a:rPr sz="2800" dirty="0">
                <a:latin typeface="Times New Roman" pitchFamily="18" charset="0"/>
                <a:cs typeface="Times New Roman" pitchFamily="18" charset="0"/>
              </a:rPr>
              <a:t>Data Analysis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508760"/>
            <a:ext cx="73152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3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Cornerstone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8778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000" b="1">
                <a:solidFill>
                  <a:srgbClr val="233464"/>
                </a:solidFill>
                <a:latin typeface="Aptos"/>
              </a:defRPr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Stock Market</a:t>
            </a:r>
            <a:r>
              <a:rPr sz="3200" dirty="0">
                <a:latin typeface="Times New Roman" pitchFamily="18" charset="0"/>
                <a:cs typeface="Times New Roman" pitchFamily="18" charset="0"/>
              </a:rPr>
              <a:t> Data Analysis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76809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800" b="0">
                <a:solidFill>
                  <a:srgbClr val="375BA0"/>
                </a:solidFill>
                <a:latin typeface="Aptos"/>
              </a:defRPr>
            </a:pPr>
            <a:r>
              <a:rPr sz="2400" dirty="0">
                <a:latin typeface="Times New Roman" pitchFamily="18" charset="0"/>
                <a:cs typeface="Times New Roman" pitchFamily="18" charset="0"/>
              </a:rPr>
              <a:t>Frontend Dashboard &amp;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657600"/>
            <a:ext cx="7955279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Presented by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Md.Samreen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(2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5B11AI750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U.Supraja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1AI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172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A.B.S.Tripura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Sundari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(2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1AI0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20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algn="ctr">
              <a:spcAft>
                <a:spcPts val="700"/>
              </a:spcAft>
              <a:defRPr sz="1400" b="0">
                <a:solidFill>
                  <a:srgbClr val="2D2D2D"/>
                </a:solidFill>
                <a:latin typeface="Aptos"/>
              </a:defRPr>
            </a:pP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V.Deepika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 (2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5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1AI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C44</a:t>
            </a:r>
            <a:r>
              <a:rPr sz="2400" b="1" dirty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Department of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2545080" y="269414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165240"/>
            <a:ext cx="7132320" cy="5052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Abstract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Introduction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Existing System &amp; Limitations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Proposed System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Description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Requirements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Methodology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Dashboard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Expected Outputs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Project Workflow</a:t>
            </a:r>
          </a:p>
          <a:p>
            <a:pPr algn="l">
              <a:spcAft>
                <a:spcPts val="700"/>
              </a:spcAft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667000" y="53695"/>
            <a:ext cx="5103904" cy="1198311"/>
            <a:chOff x="2648188" y="47148"/>
            <a:chExt cx="5103904" cy="1198311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0" name="object 3">
            <a:extLst>
              <a:ext uri="{FF2B5EF4-FFF2-40B4-BE49-F238E27FC236}">
                <a16:creationId xmlns:a16="http://schemas.microsoft.com/office/drawing/2014/main" id="{1B5A0518-1CDA-CA94-327E-0995E9EC2B8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67000" y="304800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79689"/>
            <a:ext cx="8686800" cy="31085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Stock Market Data Analysis System </a:t>
            </a:r>
            <a:r>
              <a:rPr lang="en-IN" sz="2000" dirty="0" err="1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 stock market data using Python and data analysis techniques.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 The system performs data cleaning, handles missing values and duplicates, and </a:t>
            </a:r>
            <a:r>
              <a:rPr lang="en-IN" sz="2000" dirty="0" err="1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 stock prices, trading volume, and price trends.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  Statistical analysis and visualizations such as line charts, bar graphs, and histograms provide meaningful insights into stock market data.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ea typeface="Artifakt Element Medium" panose="020B0603050000020004" pitchFamily="34" charset="0"/>
                <a:cs typeface="Times New Roman" panose="02020603050405020304" pitchFamily="18" charset="0"/>
              </a:rPr>
              <a:t> The frontend dashboard presents important stock market metrics in a simple visual form.</a:t>
            </a:r>
          </a:p>
          <a:p>
            <a:pPr algn="just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0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68880" y="21633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000" y="1066800"/>
            <a:ext cx="8778240" cy="3834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markets generate a large amount of data every day.</a:t>
            </a:r>
          </a:p>
          <a:p>
            <a:pPr marL="342900" indent="-342900" algn="l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 data contains useful information about opening price, closing price, high price, low price, and trading volume.</a:t>
            </a:r>
          </a:p>
          <a:p>
            <a:pPr marL="342900" indent="-342900" algn="l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stock market data may contain missing values and duplicate records.</a:t>
            </a:r>
          </a:p>
          <a:p>
            <a:pPr marL="342900" indent="-342900" algn="l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Python-based data analysis helps clean and process this information.</a:t>
            </a:r>
          </a:p>
          <a:p>
            <a:pPr marL="342900" indent="-342900" algn="l">
              <a:lnSpc>
                <a:spcPct val="150000"/>
              </a:lnSpc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uses Pandas, NumPy, Matplotlib, and Seaborn.</a:t>
            </a:r>
          </a:p>
          <a:p>
            <a:pPr algn="l">
              <a:spcAft>
                <a:spcPts val="700"/>
              </a:spcAft>
              <a:defRPr sz="1900" b="0">
                <a:solidFill>
                  <a:srgbClr val="2D2D2D"/>
                </a:solidFill>
                <a:latin typeface="Aptos"/>
              </a:defRPr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8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67000" y="304800"/>
            <a:ext cx="518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600200"/>
            <a:ext cx="877824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tock market data is generally stored as raw datasets or databases.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of large stock datasets may require manual effort.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Finding stock price trends can be difficult.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and duplicate records may affect data quality.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Limited analysis makes it difficult to identify important market patterns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83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25B97-4948-1D36-1564-48F015098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D28B387B-EB3D-FC8A-3A51-DDD2B8696A7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5B758792-840A-895D-A2CD-A09955CC1720}"/>
              </a:ext>
            </a:extLst>
          </p:cNvPr>
          <p:cNvGrpSpPr/>
          <p:nvPr/>
        </p:nvGrpSpPr>
        <p:grpSpPr>
          <a:xfrm>
            <a:off x="2743200" y="0"/>
            <a:ext cx="5103904" cy="1198311"/>
            <a:chOff x="2648188" y="47148"/>
            <a:chExt cx="5103904" cy="1198311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E290B6E4-4C6A-D92F-FFFC-B388B78435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>
              <a:extLst>
                <a:ext uri="{FF2B5EF4-FFF2-40B4-BE49-F238E27FC236}">
                  <a16:creationId xmlns:a16="http://schemas.microsoft.com/office/drawing/2014/main" id="{87F4EE37-279F-308C-F87F-6E638DA1937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>
              <a:extLst>
                <a:ext uri="{FF2B5EF4-FFF2-40B4-BE49-F238E27FC236}">
                  <a16:creationId xmlns:a16="http://schemas.microsoft.com/office/drawing/2014/main" id="{8ED23BED-35EB-2EF2-62D6-17D1E3CB0003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2F06FBF5-D468-2472-2E09-3659EB0BF5E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Limitations of Existing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7657" y="1218599"/>
            <a:ext cx="8778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/>
            <a:r>
              <a:rPr sz="2000" dirty="0">
                <a:latin typeface="Times New Roman"/>
              </a:rPr>
              <a:t>1. Manual analysis is time-consuming.</a:t>
            </a:r>
          </a:p>
          <a:p>
            <a:r>
              <a:rPr sz="2000" dirty="0">
                <a:latin typeface="Times New Roman"/>
              </a:rPr>
              <a:t>2. Large stock market datasets are difficult to handle manually.</a:t>
            </a:r>
          </a:p>
          <a:p>
            <a:r>
              <a:rPr sz="2000" dirty="0">
                <a:latin typeface="Times New Roman"/>
              </a:rPr>
              <a:t>3. Missing and duplicate records can affect analysis.</a:t>
            </a:r>
          </a:p>
          <a:p>
            <a:r>
              <a:rPr sz="2000" dirty="0">
                <a:latin typeface="Times New Roman"/>
              </a:rPr>
              <a:t>4. Stock price movements are not easily visualized.</a:t>
            </a:r>
          </a:p>
          <a:p>
            <a:r>
              <a:rPr sz="2000" dirty="0">
                <a:latin typeface="Times New Roman"/>
              </a:rPr>
              <a:t>5. Identifying market trends and patterns can be difficult.</a:t>
            </a:r>
          </a:p>
          <a:p>
            <a:r>
              <a:rPr sz="2000" dirty="0">
                <a:latin typeface="Times New Roman"/>
              </a:rPr>
              <a:t>6. Manual processing can result in errors.</a:t>
            </a:r>
          </a:p>
          <a:p>
            <a:r>
              <a:rPr sz="2000" dirty="0">
                <a:latin typeface="Times New Roman"/>
              </a:rPr>
              <a:t>7. Limited analytical techniques reduce the usefulness of the data.</a:t>
            </a:r>
          </a:p>
          <a:p>
            <a:endParaRPr sz="2800" dirty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6336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39A132B5-7282-BB0D-41D0-2D605FAF9D2A}"/>
              </a:ext>
            </a:extLst>
          </p:cNvPr>
          <p:cNvGrpSpPr/>
          <p:nvPr/>
        </p:nvGrpSpPr>
        <p:grpSpPr>
          <a:xfrm>
            <a:off x="2743200" y="228600"/>
            <a:ext cx="4997767" cy="1092279"/>
            <a:chOff x="2703195" y="86439"/>
            <a:chExt cx="4997767" cy="1092279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19E5F2C6-879E-09C8-70D8-F12E4105BA4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12F6F0F7-7EC3-7119-588E-9CA45688A5E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FF94120-5DAA-BA86-6F61-CE59BF796C68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43200" y="374808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Proposed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1676400"/>
            <a:ext cx="8503920" cy="3182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Dataset loading and data exploration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cleaning and missing-value handling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Duplicate removal and data preprocessing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Statistical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stock prices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Stock-wise price analysis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volume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visualization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19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dashboard for summary metrics</a:t>
            </a:r>
          </a:p>
        </p:txBody>
      </p:sp>
    </p:spTree>
    <p:extLst>
      <p:ext uri="{BB962C8B-B14F-4D97-AF65-F5344CB8AC3E}">
        <p14:creationId xmlns:p14="http://schemas.microsoft.com/office/powerpoint/2010/main" val="709256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4944C-8816-A98A-BE5A-6A28E3D13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>
            <a:extLst>
              <a:ext uri="{FF2B5EF4-FFF2-40B4-BE49-F238E27FC236}">
                <a16:creationId xmlns:a16="http://schemas.microsoft.com/office/drawing/2014/main" id="{97977331-EA1C-CA44-869F-6C400FF95B9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4" name="object 3">
            <a:extLst>
              <a:ext uri="{FF2B5EF4-FFF2-40B4-BE49-F238E27FC236}">
                <a16:creationId xmlns:a16="http://schemas.microsoft.com/office/drawing/2014/main" id="{493C539F-A86A-512C-CDC1-7D279B60EB1C}"/>
              </a:ext>
            </a:extLst>
          </p:cNvPr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EF4257B-2B43-17B3-FF4F-1187B669162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F1369C-4970-FF55-E67B-BCF08160A62A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CF69E22F-BC21-03E7-F9F3-42AA69CA9E9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470ED999-51AF-0BD8-F3EE-37C965CA5C3F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2722007" y="286489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DATASET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143000"/>
            <a:ext cx="8046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900" b="1">
                <a:solidFill>
                  <a:srgbClr val="233464"/>
                </a:solidFill>
                <a:latin typeface="Aptos"/>
              </a:defRPr>
            </a:pPr>
            <a:r>
              <a:rPr sz="2400">
                <a:latin typeface="Times New Roman"/>
              </a:rPr>
              <a:t>Stock market dataset used for analysis</a:t>
            </a:r>
          </a:p>
        </p:txBody>
      </p:sp>
      <p:pic>
        <p:nvPicPr>
          <p:cNvPr id="20" name="Picture 19" descr="stock_dataset_sam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0" y="1905000"/>
            <a:ext cx="9345920" cy="511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7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2B9EFFBF-7726-ED21-BD6C-4021B49E4438}"/>
              </a:ext>
            </a:extLst>
          </p:cNvPr>
          <p:cNvGrpSpPr/>
          <p:nvPr/>
        </p:nvGrpSpPr>
        <p:grpSpPr>
          <a:xfrm>
            <a:off x="2819400" y="5262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359EAE0-4827-E1C6-F87E-DCB8892B400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F4EE5AF0-F0A0-481E-EB59-2A06E92AC7E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C53D65-7751-C01A-F243-C971B8A545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92DCFA7B-7796-4FFE-22C4-D8D11B1128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pic>
        <p:nvPicPr>
          <p:cNvPr id="17" name="object 3">
            <a:extLst>
              <a:ext uri="{FF2B5EF4-FFF2-40B4-BE49-F238E27FC236}">
                <a16:creationId xmlns:a16="http://schemas.microsoft.com/office/drawing/2014/main" id="{EED75953-77B8-EB79-983F-0DFB76BE35E9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743200" y="256032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REQUIREMENTS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1293001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sz="2400" u="sng" dirty="0">
                <a:latin typeface="Times New Roman" pitchFamily="18" charset="0"/>
                <a:cs typeface="Times New Roman" pitchFamily="18" charset="0"/>
              </a:rPr>
              <a:t>Hardware Requirements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703300"/>
            <a:ext cx="3840480" cy="1749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ü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i3 or above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ü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4 GB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ü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20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040" y="3424535"/>
            <a:ext cx="3840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IN" sz="2400" u="sng" dirty="0"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sz="24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9440" y="3929801"/>
            <a:ext cx="4023360" cy="248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ü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/>
              </a:rPr>
              <a:t>Windows</a:t>
            </a:r>
            <a:endParaRPr lang="en-US" sz="2400" dirty="0">
              <a:latin typeface="Times New Roman"/>
            </a:endParaRP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ü"/>
              <a:defRPr sz="1800" b="0">
                <a:solidFill>
                  <a:srgbClr val="2D2D2D"/>
                </a:solidFill>
                <a:latin typeface="Aptos"/>
              </a:defRPr>
            </a:pPr>
            <a:r>
              <a:rPr sz="2400" dirty="0">
                <a:latin typeface="Times New Roman"/>
              </a:rPr>
              <a:t>Python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sz="2400" dirty="0">
                <a:latin typeface="Times New Roman"/>
              </a:rPr>
              <a:t>Google </a:t>
            </a:r>
            <a:r>
              <a:rPr sz="2400" dirty="0" err="1">
                <a:latin typeface="Times New Roman"/>
              </a:rPr>
              <a:t>Colab</a:t>
            </a:r>
            <a:endParaRPr lang="en-US" sz="2400" dirty="0">
              <a:latin typeface="Times New Roman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sz="2400" dirty="0">
                <a:latin typeface="Times New Roman"/>
              </a:rPr>
              <a:t>Pandas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sz="2400" dirty="0">
                <a:latin typeface="Times New Roman"/>
              </a:rPr>
              <a:t> NumPy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sz="2400" dirty="0">
                <a:latin typeface="Times New Roman"/>
              </a:rPr>
              <a:t> Matplotlib / Seaborn</a:t>
            </a:r>
          </a:p>
        </p:txBody>
      </p:sp>
    </p:spTree>
    <p:extLst>
      <p:ext uri="{BB962C8B-B14F-4D97-AF65-F5344CB8AC3E}">
        <p14:creationId xmlns:p14="http://schemas.microsoft.com/office/powerpoint/2010/main" val="2272052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3">
            <a:extLst>
              <a:ext uri="{FF2B5EF4-FFF2-40B4-BE49-F238E27FC236}">
                <a16:creationId xmlns:a16="http://schemas.microsoft.com/office/drawing/2014/main" id="{21ABBE52-8710-4E6B-00A1-6AE2E264A905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B01548A-FFE9-E3D8-12A9-78CF2115655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>
              <a:extLst>
                <a:ext uri="{FF2B5EF4-FFF2-40B4-BE49-F238E27FC236}">
                  <a16:creationId xmlns:a16="http://schemas.microsoft.com/office/drawing/2014/main" id="{C2274CD8-F01F-9319-4AED-E01AFBB7B3F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798807C2-A29E-0BF3-6CFE-592456DB3D5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>
              <a:extLst>
                <a:ext uri="{FF2B5EF4-FFF2-40B4-BE49-F238E27FC236}">
                  <a16:creationId xmlns:a16="http://schemas.microsoft.com/office/drawing/2014/main" id="{0012A6F5-DCDD-5346-54A8-BF352762053D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pic>
        <p:nvPicPr>
          <p:cNvPr id="11" name="object 3">
            <a:extLst>
              <a:ext uri="{FF2B5EF4-FFF2-40B4-BE49-F238E27FC236}">
                <a16:creationId xmlns:a16="http://schemas.microsoft.com/office/drawing/2014/main" id="{A01798C2-99DE-A723-BAF6-CF11F4E8C1F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414826" y="437450"/>
            <a:ext cx="5120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sz="2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253" y="1115220"/>
            <a:ext cx="9770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Module 1 – Dataset Loading 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Import required Python libraries.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Load the stock dataset using Pandas.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52502A97-D245-72B2-C4CE-36C3CF74332D}"/>
              </a:ext>
            </a:extLst>
          </p:cNvPr>
          <p:cNvSpPr/>
          <p:nvPr/>
        </p:nvSpPr>
        <p:spPr>
          <a:xfrm>
            <a:off x="4796282" y="2373939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34B842-9CD3-AA46-6CA7-F730C9D1D96E}"/>
              </a:ext>
            </a:extLst>
          </p:cNvPr>
          <p:cNvSpPr txBox="1"/>
          <p:nvPr/>
        </p:nvSpPr>
        <p:spPr>
          <a:xfrm>
            <a:off x="2425647" y="2609096"/>
            <a:ext cx="493115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Data Exploration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dataset size and structure.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column names and data types.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D18714A5-46F1-BD0D-4A00-BB0C1211F660}"/>
              </a:ext>
            </a:extLst>
          </p:cNvPr>
          <p:cNvSpPr/>
          <p:nvPr/>
        </p:nvSpPr>
        <p:spPr>
          <a:xfrm>
            <a:off x="4756604" y="3814644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59C03E-C4CB-43D3-0C7D-3D50822A8B32}"/>
              </a:ext>
            </a:extLst>
          </p:cNvPr>
          <p:cNvSpPr txBox="1"/>
          <p:nvPr/>
        </p:nvSpPr>
        <p:spPr>
          <a:xfrm>
            <a:off x="2669418" y="4228115"/>
            <a:ext cx="47195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sz="2400" b="1">
                <a:latin typeface="Times New Roman"/>
              </a:rPr>
              <a:t>Module 3 – Data Cleaning</a:t>
            </a:r>
          </a:p>
          <a:p>
            <a:r>
              <a:rPr sz="2400" b="1">
                <a:latin typeface="Times New Roman"/>
              </a:rPr>
              <a:t>Identify and handle missing values.</a:t>
            </a:r>
          </a:p>
          <a:p>
            <a:r>
              <a:rPr sz="2400" b="1">
                <a:latin typeface="Times New Roman"/>
              </a:rPr>
              <a:t>Remove duplicate records.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E02D8121-E16D-A49A-1052-85D8AFE05F58}"/>
              </a:ext>
            </a:extLst>
          </p:cNvPr>
          <p:cNvSpPr/>
          <p:nvPr/>
        </p:nvSpPr>
        <p:spPr>
          <a:xfrm>
            <a:off x="4754386" y="5469412"/>
            <a:ext cx="357728" cy="31165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>
                <a:solidFill>
                  <a:schemeClr val="tx1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C953-BED3-2F43-1A1F-3B7650BC3A88}"/>
              </a:ext>
            </a:extLst>
          </p:cNvPr>
          <p:cNvSpPr txBox="1"/>
          <p:nvPr/>
        </p:nvSpPr>
        <p:spPr>
          <a:xfrm>
            <a:off x="2460546" y="5841915"/>
            <a:ext cx="5029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Data Preprocessing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date columns into the correct format.</a:t>
            </a:r>
          </a:p>
          <a:p>
            <a:pPr lvl="0"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stock market data for analysis.</a:t>
            </a:r>
          </a:p>
        </p:txBody>
      </p:sp>
    </p:spTree>
    <p:extLst>
      <p:ext uri="{BB962C8B-B14F-4D97-AF65-F5344CB8AC3E}">
        <p14:creationId xmlns:p14="http://schemas.microsoft.com/office/powerpoint/2010/main" val="314495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E1A7-3004-3B9A-3BDF-6F0CD676F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F02D1B8B-963F-84C5-69F0-17C3EECCFD8D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BD448D2F-A85D-4EA9-4AFA-DBD143FFC36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1" name="object 5">
              <a:extLst>
                <a:ext uri="{FF2B5EF4-FFF2-40B4-BE49-F238E27FC236}">
                  <a16:creationId xmlns:a16="http://schemas.microsoft.com/office/drawing/2014/main" id="{70B9531E-FF63-3CBC-8C76-5101CEB24CF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2" name="object 6">
              <a:extLst>
                <a:ext uri="{FF2B5EF4-FFF2-40B4-BE49-F238E27FC236}">
                  <a16:creationId xmlns:a16="http://schemas.microsoft.com/office/drawing/2014/main" id="{A51A82D2-D894-569F-6C1F-514FA4F12972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3" name="object 7">
              <a:extLst>
                <a:ext uri="{FF2B5EF4-FFF2-40B4-BE49-F238E27FC236}">
                  <a16:creationId xmlns:a16="http://schemas.microsoft.com/office/drawing/2014/main" id="{B3782B54-B821-DE87-C2B7-79ECF9E77AF9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640080" y="1234440"/>
            <a:ext cx="4069080" cy="19659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defRPr sz="1500" b="1">
                <a:solidFill>
                  <a:srgbClr val="143764"/>
                </a:solidFill>
                <a:latin typeface="Aptos"/>
              </a:defRPr>
            </a:pPr>
            <a:r>
              <a:t>Module 5 – Exploratory Data Analysis (EDA)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Analyze stock price distribution.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Explore trading-volume patterns.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4920" y="1234440"/>
            <a:ext cx="4069080" cy="19659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defRPr sz="1500" b="1">
                <a:solidFill>
                  <a:srgbClr val="143764"/>
                </a:solidFill>
                <a:latin typeface="Aptos"/>
              </a:defRPr>
            </a:pPr>
            <a:r>
              <a:t>Module 6 – Stock Market Analysis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Analyze stock price movements.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Compare opening and closing prices.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Identify price and volume trends.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657600"/>
            <a:ext cx="4069080" cy="19659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defRPr sz="1500" b="1">
                <a:solidFill>
                  <a:srgbClr val="143764"/>
                </a:solidFill>
                <a:latin typeface="Aptos"/>
              </a:defRPr>
            </a:pPr>
            <a:r>
              <a:t>Module 7 – Data Visualization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Create line charts and bar charts.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Use a pie chart only when comparing stock categories or shares.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3657600"/>
            <a:ext cx="4069080" cy="1965960"/>
          </a:xfrm>
          <a:prstGeom prst="rect">
            <a:avLst/>
          </a:prstGeom>
          <a:noFill/>
        </p:spPr>
        <p:txBody>
          <a:bodyPr wrap="square" lIns="109728" tIns="73152" rIns="109728">
            <a:spAutoFit/>
          </a:bodyPr>
          <a:lstStyle/>
          <a:p>
            <a:pPr>
              <a:defRPr sz="1500" b="1">
                <a:solidFill>
                  <a:srgbClr val="143764"/>
                </a:solidFill>
                <a:latin typeface="Aptos"/>
              </a:defRPr>
            </a:pPr>
            <a:r>
              <a:t>Module 8 – Advanced Visualization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Use histograms to analyze price distribution.</a:t>
            </a:r>
          </a:p>
          <a:p>
            <a:pPr>
              <a:spcAft>
                <a:spcPts val="400"/>
              </a:spcAft>
              <a:defRPr sz="1300">
                <a:solidFill>
                  <a:srgbClr val="282828"/>
                </a:solidFill>
                <a:latin typeface="Aptos"/>
              </a:defRPr>
            </a:pPr>
            <a:r>
              <a:t>• Use heatmaps to examine correlations between numerical attributes.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14016" y="438912"/>
            <a:ext cx="512064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METHODOLOGY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E4691607-46AB-6311-E7D2-43DA0913648B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217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590800" y="161097"/>
            <a:ext cx="5103904" cy="1198311"/>
            <a:chOff x="2648188" y="47148"/>
            <a:chExt cx="5103904" cy="1198311"/>
          </a:xfrm>
        </p:grpSpPr>
        <p:pic>
          <p:nvPicPr>
            <p:cNvPr id="21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22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23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2468880" y="396841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 Screens</a:t>
            </a:r>
            <a:endParaRPr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" name="Picture 28" descr="stock_dashboard_s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28800"/>
            <a:ext cx="4434840" cy="3310128"/>
          </a:xfrm>
          <a:prstGeom prst="rect">
            <a:avLst/>
          </a:prstGeom>
        </p:spPr>
      </p:pic>
      <p:pic>
        <p:nvPicPr>
          <p:cNvPr id="30" name="Picture 29" descr="stock_dataset_sam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28800"/>
            <a:ext cx="4251960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1234440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764"/>
                </a:solidFill>
                <a:latin typeface="Aptos"/>
              </a:defRPr>
            </a:pPr>
            <a:r>
              <a:t>Stock Market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12080" y="1234440"/>
            <a:ext cx="4023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764"/>
                </a:solidFill>
                <a:latin typeface="Aptos"/>
              </a:defRPr>
            </a:pPr>
            <a:r>
              <a:t>Sample Stock Dataset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5654" y="5440680"/>
            <a:ext cx="707277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3C3C3C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metrics may include stocks analyzed, latest closing price, price change, and trading volume.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5C85821B-55F9-8E50-2CEC-15634C97A12E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606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>
            <a:extLst>
              <a:ext uri="{FF2B5EF4-FFF2-40B4-BE49-F238E27FC236}">
                <a16:creationId xmlns:a16="http://schemas.microsoft.com/office/drawing/2014/main" id="{D26E0863-A3EE-1EC4-F128-4D4F1A60D3A0}"/>
              </a:ext>
            </a:extLst>
          </p:cNvPr>
          <p:cNvGrpSpPr/>
          <p:nvPr/>
        </p:nvGrpSpPr>
        <p:grpSpPr>
          <a:xfrm>
            <a:off x="2124936" y="212583"/>
            <a:ext cx="5103904" cy="1198311"/>
            <a:chOff x="2648188" y="47148"/>
            <a:chExt cx="5103904" cy="1198311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77890B8C-7EC3-B7B1-BF56-4F5DE13755D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E9CC3DEB-E45E-85F9-CD38-C2C4966FBC3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C3D8E05-12DF-F9A5-1AF2-87C24DA53BB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EF5B48B8-D150-0E57-59D0-4E3B78C29486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        </a:t>
              </a:r>
              <a:endParaRPr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2667000" y="408984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Output Screens</a:t>
            </a:r>
          </a:p>
          <a:p>
            <a:endParaRPr lang="en-US" sz="2400" dirty="0"/>
          </a:p>
        </p:txBody>
      </p:sp>
      <p:pic>
        <p:nvPicPr>
          <p:cNvPr id="14" name="Picture 13" descr="stock_records_s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1828800"/>
            <a:ext cx="4480560" cy="3154680"/>
          </a:xfrm>
          <a:prstGeom prst="rect">
            <a:avLst/>
          </a:prstGeom>
        </p:spPr>
      </p:pic>
      <p:pic>
        <p:nvPicPr>
          <p:cNvPr id="15" name="Picture 14" descr="stock_analysis_sam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28800"/>
            <a:ext cx="4251960" cy="3154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1234440"/>
            <a:ext cx="187904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764"/>
                </a:solidFill>
                <a:latin typeface="Aptos"/>
              </a:defRPr>
            </a:pPr>
            <a:r>
              <a:rPr sz="2000" dirty="0"/>
              <a:t>Stock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1234440"/>
            <a:ext cx="25010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3764"/>
                </a:solidFill>
                <a:latin typeface="Aptos"/>
              </a:defRPr>
            </a:pPr>
            <a:r>
              <a:rPr sz="2000" dirty="0"/>
              <a:t>Stock Data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7033" y="5303520"/>
            <a:ext cx="73100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5A5A5A"/>
                </a:solidFill>
                <a:latin typeface="Aptos"/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Illustrative outputs: replace these visuals with screenshots from your working project if they differ</a:t>
            </a:r>
            <a:r>
              <a:rPr dirty="0"/>
              <a:t>.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CCCBEA24-35F8-4304-F119-633CAE8EFCD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67ACC245-70D9-3E8C-5FB8-754CFCF29BA7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6520D471-D4E5-A862-75B1-D9BCC13CCE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AD22DAB3-C37B-1766-28C4-6EB13F7079C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CDC96198-DF83-D7E8-5187-D35038090D7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BAA191BE-B616-456E-A32A-06C5D11989B1}"/>
                </a:ext>
              </a:extLst>
            </p:cNvPr>
            <p:cNvSpPr/>
            <p:nvPr/>
          </p:nvSpPr>
          <p:spPr>
            <a:xfrm>
              <a:off x="2828925" y="282892"/>
              <a:ext cx="4534295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                  </a:t>
              </a:r>
              <a:endParaRPr sz="2800" dirty="0">
                <a:solidFill>
                  <a:schemeClr val="bg1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477248" y="3938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Project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992916"/>
            <a:ext cx="6209552" cy="6760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CSV Dataset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Load Dataset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 Cleaning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 Preprocessing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Exploratory Data Analysis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Stock Market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Analysis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Visualization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Frontend Dashboard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dirty="0">
                <a:latin typeface="Times New Roman" pitchFamily="18" charset="0"/>
                <a:cs typeface="Times New Roman" pitchFamily="18" charset="0"/>
              </a:rPr>
              <a:t>↓</a:t>
            </a:r>
          </a:p>
          <a:p>
            <a:pPr algn="ctr">
              <a:spcAft>
                <a:spcPts val="700"/>
              </a:spcAft>
              <a:defRPr sz="2000" b="1">
                <a:solidFill>
                  <a:srgbClr val="233464"/>
                </a:solidFill>
                <a:latin typeface="Aptos"/>
              </a:defRP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Stock Market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Insights</a:t>
            </a:r>
          </a:p>
        </p:txBody>
      </p:sp>
      <p:pic>
        <p:nvPicPr>
          <p:cNvPr id="3" name="object 3">
            <a:extLst>
              <a:ext uri="{FF2B5EF4-FFF2-40B4-BE49-F238E27FC236}">
                <a16:creationId xmlns:a16="http://schemas.microsoft.com/office/drawing/2014/main" id="{AFECA905-C2B9-4657-AB19-145D3C239978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2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>
            <a:extLst>
              <a:ext uri="{FF2B5EF4-FFF2-40B4-BE49-F238E27FC236}">
                <a16:creationId xmlns:a16="http://schemas.microsoft.com/office/drawing/2014/main" id="{20B8B724-A73F-F006-222B-6A4FF27EB83E}"/>
              </a:ext>
            </a:extLst>
          </p:cNvPr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>
              <a:extLst>
                <a:ext uri="{FF2B5EF4-FFF2-40B4-BE49-F238E27FC236}">
                  <a16:creationId xmlns:a16="http://schemas.microsoft.com/office/drawing/2014/main" id="{8D96FE08-6C48-29F6-B8BF-733A1FE4EFC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F663E0BF-F2C3-9990-10F0-85152F3B74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AF92C391-8A67-101D-C7DE-D42721562E91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>
              <a:extLst>
                <a:ext uri="{FF2B5EF4-FFF2-40B4-BE49-F238E27FC236}">
                  <a16:creationId xmlns:a16="http://schemas.microsoft.com/office/drawing/2014/main" id="{5C67209A-2109-EE49-1C12-165FDE2056AC}"/>
                </a:ext>
              </a:extLst>
            </p:cNvPr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3">
            <a:extLst>
              <a:ext uri="{FF2B5EF4-FFF2-40B4-BE49-F238E27FC236}">
                <a16:creationId xmlns:a16="http://schemas.microsoft.com/office/drawing/2014/main" id="{A2CEDFE4-2383-831F-CDEE-1CF3B0215E1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488870" y="368446"/>
            <a:ext cx="51206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2200" b="1">
                <a:solidFill>
                  <a:srgbClr val="233464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463040"/>
            <a:ext cx="8412480" cy="2516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Aft>
                <a:spcPts val="700"/>
              </a:spcAft>
              <a:buFont typeface="Wingdings" panose="05000000000000000000" pitchFamily="2" charset="2"/>
              <a:buChar char="Ø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demonstrates a complete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pipeline using Python.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preprocessing improve the quality of analysis.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•Charts and the frontend dashboard make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price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 easier to understand.</a:t>
            </a:r>
          </a:p>
          <a:p>
            <a:pPr marL="342900" indent="-342900" algn="l">
              <a:spcAft>
                <a:spcPts val="700"/>
              </a:spcAft>
              <a:buFont typeface="Wingdings" panose="05000000000000000000" pitchFamily="2" charset="2"/>
              <a:buChar char="Ø"/>
              <a:defRPr sz="2000" b="0">
                <a:solidFill>
                  <a:srgbClr val="2D2D2D"/>
                </a:solidFill>
                <a:latin typeface="Aptos"/>
              </a:defRPr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provides a foundation for future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market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and applications.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28729"/>
            <a:ext cx="8138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C25B30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larger datasets, live stock market data integration, advanced analytics, and machine-learning-based stock price prediction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4192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CC1E-7CC1-A055-4DF3-2F8FA481E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0" y="2057400"/>
            <a:ext cx="5486400" cy="2209800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THANK </a:t>
            </a:r>
            <a:br>
              <a:rPr lang="en-US" sz="4800" dirty="0">
                <a:solidFill>
                  <a:schemeClr val="tx1"/>
                </a:solidFill>
              </a:rPr>
            </a:br>
            <a:r>
              <a:rPr lang="en-US" sz="4800" dirty="0">
                <a:solidFill>
                  <a:schemeClr val="tx1"/>
                </a:solidFill>
              </a:rPr>
              <a:t>        YOU</a:t>
            </a:r>
            <a:endParaRPr lang="en-IN" sz="4800" dirty="0">
              <a:solidFill>
                <a:schemeClr val="tx1"/>
              </a:solidFill>
            </a:endParaRPr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D686A275-50AE-A24A-EEE4-DDEEC8BD38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945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3325</TotalTime>
  <Words>797</Words>
  <Application>Microsoft Office PowerPoint</Application>
  <PresentationFormat>Custom</PresentationFormat>
  <Paragraphs>135</Paragraphs>
  <Slides>16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       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Zeroth Review</dc:title>
  <dc:creator>RESHMA BASAPATHI</dc:creator>
  <cp:lastModifiedBy>samreen khan</cp:lastModifiedBy>
  <cp:revision>116</cp:revision>
  <cp:lastPrinted>2025-10-14T18:21:49Z</cp:lastPrinted>
  <dcterms:created xsi:type="dcterms:W3CDTF">2025-10-10T08:28:06Z</dcterms:created>
  <dcterms:modified xsi:type="dcterms:W3CDTF">2026-10-25T13:55:39Z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2025-09-12T00:00:00Z</vt:filetime>
  </property>
  <property fmtid="{D5CDD505-2E9C-101B-9397-08002B2CF9AE}" pid="3" name="LastSaved">
    <vt:filetime>2025-10-10T00:00:00Z</vt:filetime>
  </property>
</Properties>
</file>